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FINAL YEAR PROJECT PRESENTATION</a:t>
            </a:r>
          </a:p>
          <a:p>
            <a:pPr>
              <a:spcBef>
                <a:spcPts val="800"/>
              </a:spcBef>
              <a:defRPr sz="4000" b="1">
                <a:solidFill>
                  <a:srgbClr val="FFFFFF"/>
                </a:solidFill>
              </a:defRPr>
            </a:pPr>
            <a:r>
              <a:t>DevTask Hub</a:t>
            </a:r>
          </a:p>
          <a:p>
            <a:pPr>
              <a:spcBef>
                <a:spcPts val="400"/>
              </a:spcBef>
              <a:defRPr sz="1800">
                <a:solidFill>
                  <a:srgbClr val="93C5FD"/>
                </a:solidFill>
              </a:defRPr>
            </a:pPr>
            <a:r>
              <a:t>Developer Task &amp; Issue Tracking System with GitHub PR Synchronization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4937760" cy="2560320"/>
          </a:xfrm>
          <a:prstGeom prst="roundRect">
            <a:avLst/>
          </a:prstGeom>
          <a:solidFill>
            <a:srgbClr val="234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STUDENT &amp; PROJECT DETAILS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Student Name: </a:t>
            </a:r>
            <a:r>
              <a:rPr sz="1200">
                <a:solidFill>
                  <a:srgbClr val="E2E8F0"/>
                </a:solidFill>
              </a:rPr>
              <a:t>Parmar Nilesh Prakashkumar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Enrollment No: </a:t>
            </a:r>
            <a:r>
              <a:rPr sz="1200">
                <a:solidFill>
                  <a:srgbClr val="E2E8F0"/>
                </a:solidFill>
              </a:rPr>
              <a:t>202206100110113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Semester: </a:t>
            </a:r>
            <a:r>
              <a:rPr sz="1200">
                <a:solidFill>
                  <a:srgbClr val="E2E8F0"/>
                </a:solidFill>
              </a:rPr>
              <a:t>9th Semester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Team Mode: </a:t>
            </a:r>
            <a:r>
              <a:rPr sz="1200">
                <a:solidFill>
                  <a:srgbClr val="E2E8F0"/>
                </a:solidFill>
              </a:rPr>
              <a:t>Individual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291840"/>
            <a:ext cx="4937760" cy="2560320"/>
          </a:xfrm>
          <a:prstGeom prst="roundRect">
            <a:avLst/>
          </a:prstGeom>
          <a:solidFill>
            <a:srgbClr val="234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MENTORSHIP &amp; AFFILIATION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Internal Guide: </a:t>
            </a:r>
            <a:r>
              <a:rPr sz="1200">
                <a:solidFill>
                  <a:srgbClr val="E2E8F0"/>
                </a:solidFill>
              </a:rPr>
              <a:t>Bhavik Sarang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External Guide: </a:t>
            </a:r>
            <a:r>
              <a:rPr sz="1200">
                <a:solidFill>
                  <a:srgbClr val="E2E8F0"/>
                </a:solidFill>
              </a:rPr>
              <a:t>Mr. Hardik Patel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Institute: </a:t>
            </a:r>
            <a:r>
              <a:rPr sz="1200">
                <a:solidFill>
                  <a:srgbClr val="E2E8F0"/>
                </a:solidFill>
              </a:rPr>
              <a:t>Babu Madhav Institute of Information Technology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FFFFFF"/>
                </a:solidFill>
              </a:rPr>
              <a:t>University: </a:t>
            </a:r>
            <a:r>
              <a:rPr sz="1200">
                <a:solidFill>
                  <a:srgbClr val="E2E8F0"/>
                </a:solidFill>
              </a:rPr>
              <a:t>Uka Tarsadia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Project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Enterprise Task Management: </a:t>
            </a:r>
            <a:r>
              <a:rPr sz="1400">
                <a:solidFill>
                  <a:srgbClr val="1E293B"/>
                </a:solidFill>
              </a:rPr>
              <a:t>A full-stack, modular web system engineered for software teams to track development workflows and project milestones.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Deterministic State Machine: </a:t>
            </a:r>
            <a:r>
              <a:rPr sz="1400">
                <a:solidFill>
                  <a:srgbClr val="1E293B"/>
                </a:solidFill>
              </a:rPr>
              <a:t>Enforces a strict 4-stage lifecycle (ToDo -&gt; InProgress -&gt; InReview -&gt; Done) eliminating skipped testing or review stages.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Decoupled SPA Architecture: </a:t>
            </a:r>
            <a:r>
              <a:rPr sz="1400">
                <a:solidFill>
                  <a:srgbClr val="1E293B"/>
                </a:solidFill>
              </a:rPr>
              <a:t>Built with ASP.NET Core Web API (.NET 10) and a React 19 + TypeScript single-page client for instant interactivity.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Dual Role Governance: </a:t>
            </a:r>
            <a:r>
              <a:rPr sz="1400">
                <a:solidFill>
                  <a:srgbClr val="1E293B"/>
                </a:solidFill>
              </a:rPr>
              <a:t>Provides segregated workflows for Administrators (organization governance) and Developers (task execution &amp; workload).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Seamless GitHub Integration: </a:t>
            </a:r>
            <a:r>
              <a:rPr sz="1400">
                <a:solidFill>
                  <a:srgbClr val="1E293B"/>
                </a:solidFill>
              </a:rPr>
              <a:t>Bridges issue tracking with code repositories by linking public GitHub PRs and caching real-time review/draft statuses.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Zero-Trust Security Design: </a:t>
            </a:r>
            <a:r>
              <a:rPr sz="1400">
                <a:solidFill>
                  <a:srgbClr val="1E293B"/>
                </a:solidFill>
              </a:rPr>
              <a:t>Stateless 15-min JWT access tokens with rotating 14-day refresh tokens and automatic reuse theft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Definitive Technical Specification: </a:t>
            </a:r>
            <a:r>
              <a:rPr sz="1400">
                <a:solidFill>
                  <a:srgbClr val="1E293B"/>
                </a:solidFill>
              </a:rPr>
              <a:t>Specifies the complete architectural invariants, functional capabilities, and security boundaries of DevTask Hub.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Workflow Enforcement: </a:t>
            </a:r>
            <a:r>
              <a:rPr sz="1400">
                <a:solidFill>
                  <a:srgbClr val="1E293B"/>
                </a:solidFill>
              </a:rPr>
              <a:t>Eliminates chaotic, ad-hoc task transitions by binding developer activities to a deterministic state machine.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Traceability &amp; Accountability: </a:t>
            </a:r>
            <a:r>
              <a:rPr sz="1400">
                <a:solidFill>
                  <a:srgbClr val="1E293B"/>
                </a:solidFill>
              </a:rPr>
              <a:t>Provides an immutable audit trail capturing actor, property diffs, and UTC timestamps for every task modification.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Developer-Centric Visibility: </a:t>
            </a:r>
            <a:r>
              <a:rPr sz="1400">
                <a:solidFill>
                  <a:srgbClr val="1E293B"/>
                </a:solidFill>
              </a:rPr>
              <a:t>Combines visual Kanban columns with tabular list views to surface urgent and overdue tasks in real time.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Continuous Source Traceability: </a:t>
            </a:r>
            <a:r>
              <a:rPr sz="1400">
                <a:solidFill>
                  <a:srgbClr val="1E293B"/>
                </a:solidFill>
              </a:rPr>
              <a:t>Ensures code contributions are explicitly linked to tracked tasks without leaving the issue management workspace.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Production-Ready Baseline: </a:t>
            </a:r>
            <a:r>
              <a:rPr sz="1400">
                <a:solidFill>
                  <a:srgbClr val="1E293B"/>
                </a:solidFill>
              </a:rPr>
              <a:t>Delivers verified enterprise patterns (DTO layers, soft deletes, problem details, PBKDF2 hashing) without framework bloat.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Core Identity &amp; Auth: </a:t>
            </a:r>
            <a:r>
              <a:rPr sz="1400">
                <a:solidFill>
                  <a:srgbClr val="1E293B"/>
                </a:solidFill>
              </a:rPr>
              <a:t>Stateless JWT, HTTP-only refresh rotation, reuse detection, PBKDF2 password hashing.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Project Administration: </a:t>
            </a:r>
            <a:r>
              <a:rPr sz="1400">
                <a:solidFill>
                  <a:srgbClr val="1E293B"/>
                </a:solidFill>
              </a:rPr>
              <a:t>Project key validation (2–10 alphanumeric), team member access, lifecycle statuses.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Task State Machine: </a:t>
            </a:r>
            <a:r>
              <a:rPr sz="1400">
                <a:solidFill>
                  <a:srgbClr val="1E293B"/>
                </a:solidFill>
              </a:rPr>
              <a:t>Guarded 4-step workflow, assignee membership constraints, priority levels, categories.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Kanban &amp; List Boards: </a:t>
            </a:r>
            <a:r>
              <a:rPr sz="1400">
                <a:solidFill>
                  <a:srgbClr val="1E293B"/>
                </a:solidFill>
              </a:rPr>
              <a:t>Interactive drag-and-drop board with optimistic UI plus server-paginated tabular list.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Role Dashboards: </a:t>
            </a:r>
            <a:r>
              <a:rPr sz="1400">
                <a:solidFill>
                  <a:srgbClr val="1E293B"/>
                </a:solidFill>
              </a:rPr>
              <a:t>Admin KPI analytics (total counts, activity feed) and Developer workload trackers.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Public GitHub Link: </a:t>
            </a:r>
            <a:r>
              <a:rPr sz="1400">
                <a:solidFill>
                  <a:srgbClr val="1E293B"/>
                </a:solidFill>
              </a:rPr>
              <a:t>Public developer profile linking, PR URL regex validation, and state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Private Git Repositories: </a:t>
            </a:r>
            <a:r>
              <a:rPr sz="1400">
                <a:solidFill>
                  <a:srgbClr val="1E293B"/>
                </a:solidFill>
              </a:rPr>
              <a:t>No private repository OAuth or stored Personal Access Tokens (unauthenticated API only).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GitHub Webhooks: </a:t>
            </a:r>
            <a:r>
              <a:rPr sz="1400">
                <a:solidFill>
                  <a:srgbClr val="1E293B"/>
                </a:solidFill>
              </a:rPr>
              <a:t>No asynchronous push webhooks; sync is client-triggered on demand.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External Email SMTP: </a:t>
            </a:r>
            <a:r>
              <a:rPr sz="1400">
                <a:solidFill>
                  <a:srgbClr val="1E293B"/>
                </a:solidFill>
              </a:rPr>
              <a:t>No third-party email provider integration; direct credential verification.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WebSocket Feeds: </a:t>
            </a:r>
            <a:r>
              <a:rPr sz="1400">
                <a:solidFill>
                  <a:srgbClr val="1E293B"/>
                </a:solidFill>
              </a:rPr>
              <a:t>No full-duplex SignalR streams; client uses HTTP polling and optimistic cache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Identification of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Manual Spreadsheets Lack Control: </a:t>
            </a:r>
            <a:r>
              <a:rPr sz="1400">
                <a:solidFill>
                  <a:srgbClr val="1E293B"/>
                </a:solidFill>
              </a:rPr>
              <a:t>Teams using Excel/Sheets suffer from accidental status overwrites and unverified task completion.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Context Switching Overhead: </a:t>
            </a:r>
            <a:r>
              <a:rPr sz="1400">
                <a:solidFill>
                  <a:srgbClr val="1E293B"/>
                </a:solidFill>
              </a:rPr>
              <a:t>Developers waste hours toggling between external issue trackers and GitHub repositories to inspect PR states.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Weak Session Hygiene in Generic Apps: </a:t>
            </a:r>
            <a:r>
              <a:rPr sz="1400">
                <a:solidFill>
                  <a:srgbClr val="1E293B"/>
                </a:solidFill>
              </a:rPr>
              <a:t>Many lightweight trackers store static refresh tokens or plain JWTs in localStorage, vulnerable to XSS.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Enterprise Bloat &amp; High Cost: </a:t>
            </a:r>
            <a:r>
              <a:rPr sz="1400">
                <a:solidFill>
                  <a:srgbClr val="1E293B"/>
                </a:solidFill>
              </a:rPr>
              <a:t>Enterprise tools (Jira, Linear) are often cost-prohibitive, complex to configure, and overburdened with unnecessary features.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Missing Role Clarity: </a:t>
            </a:r>
            <a:r>
              <a:rPr sz="1400">
                <a:solidFill>
                  <a:srgbClr val="1E293B"/>
                </a:solidFill>
              </a:rPr>
              <a:t>Generic tools often expose administrative toggles to developers or fail to isolate project visibility across teams.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The Solution – DevTask Hub: </a:t>
            </a:r>
            <a:r>
              <a:rPr sz="1400">
                <a:solidFill>
                  <a:srgbClr val="1E293B"/>
                </a:solidFill>
              </a:rPr>
              <a:t>A focused, lightning-fast modular tracker enforcing strict domain rules, cryptographic token rotation, and frictionless PR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Technology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Backend Framework: </a:t>
            </a:r>
            <a:r>
              <a:rPr sz="1400">
                <a:solidFill>
                  <a:srgbClr val="1E293B"/>
                </a:solidFill>
              </a:rPr>
              <a:t>ASP.NET Core Web API on .NET 10 (net10.0) with modular folder layering.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Database &amp; ORM: </a:t>
            </a:r>
            <a:r>
              <a:rPr sz="1400">
                <a:solidFill>
                  <a:srgbClr val="1E293B"/>
                </a:solidFill>
              </a:rPr>
              <a:t>SQL Server 2025 Express with EF Core 10.0.13, code-first migrations, and fluent check constraints.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Authentication &amp; Security: </a:t>
            </a:r>
            <a:r>
              <a:rPr sz="1400">
                <a:solidFill>
                  <a:srgbClr val="1E293B"/>
                </a:solidFill>
              </a:rPr>
              <a:t>JWT Bearer (HS256, 15m), ASP.NET Identity Core PasswordHasher&lt;User&gt; (PBKDF2), HTTP-only cookies.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Frontend Client: </a:t>
            </a:r>
            <a:r>
              <a:rPr sz="1400">
                <a:solidFill>
                  <a:srgbClr val="1E293B"/>
                </a:solidFill>
              </a:rPr>
              <a:t>React 19.3.1 with TypeScript 6.0.3, modern React Hooks, and Context API state management.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Build Tool &amp; Routing: </a:t>
            </a:r>
            <a:r>
              <a:rPr sz="1400">
                <a:solidFill>
                  <a:srgbClr val="1E293B"/>
                </a:solidFill>
              </a:rPr>
              <a:t>Vite 8.3.4 for fast compilation and React Router DOM v7.18.4 for declarative client routing.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External Integration: </a:t>
            </a:r>
            <a:r>
              <a:rPr sz="1400">
                <a:solidFill>
                  <a:srgbClr val="1E293B"/>
                </a:solidFill>
              </a:rPr>
              <a:t>GitHub REST API v3 (HttpClient factory with custom user-agent and JSON parsing).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FR-01 to FR-03: Identity &amp; Auth: </a:t>
            </a:r>
            <a:r>
              <a:rPr sz="1400">
                <a:solidFill>
                  <a:srgbClr val="1E293B"/>
                </a:solidFill>
              </a:rPr>
              <a:t>User registration, PBKDF2 credential verification, and 14-day cryptographic refresh token rotation.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FR-04 to FR-06: Projects &amp; Teams: </a:t>
            </a:r>
            <a:r>
              <a:rPr sz="1400">
                <a:solidFill>
                  <a:srgbClr val="1E293B"/>
                </a:solidFill>
              </a:rPr>
              <a:t>Uppercase key validation (regex), team membership guards, and deletion block on active tasks.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FR-07 to FR-08: Task Workflow: </a:t>
            </a:r>
            <a:r>
              <a:rPr sz="1400">
                <a:solidFill>
                  <a:srgbClr val="1E293B"/>
                </a:solidFill>
              </a:rPr>
              <a:t>Creation with assignee member constraint, and 4-stage state machine transition enforcement.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FR-09 to FR-10: Audit &amp; Visual Board: </a:t>
            </a:r>
            <a:r>
              <a:rPr sz="1400">
                <a:solidFill>
                  <a:srgbClr val="1E293B"/>
                </a:solidFill>
              </a:rPr>
              <a:t>Immutable activity logs for all updates, drag-and-drop Kanban board, and paginated list view.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FR-11 to FR-12: Dashboards &amp; Profiles: </a:t>
            </a:r>
            <a:r>
              <a:rPr sz="1400">
                <a:solidFill>
                  <a:srgbClr val="1E293B"/>
                </a:solidFill>
              </a:rPr>
              <a:t>Admin KPI summaries, Developer overdue task trackers, and public GitHub profile linkage.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FR-13 to FR-14: PR Sync &amp; User Admin: </a:t>
            </a:r>
            <a:r>
              <a:rPr sz="1400">
                <a:solidFill>
                  <a:srgbClr val="1E293B"/>
                </a:solidFill>
              </a:rPr>
              <a:t>Task pull request regex linking, live GitHub status sync, and admin user active/deactivation.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Security (NFR-01): </a:t>
            </a:r>
            <a:r>
              <a:rPr sz="1400">
                <a:solidFill>
                  <a:srgbClr val="1E293B"/>
                </a:solidFill>
              </a:rPr>
              <a:t>PBKDF2 password hashing, HS256 signed JWTs, SHA-256 hashed refresh tokens, and user-secrets configuration.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Performance (NFR-02): </a:t>
            </a:r>
            <a:r>
              <a:rPr sz="1400">
                <a:solidFill>
                  <a:srgbClr val="1E293B"/>
                </a:solidFill>
              </a:rPr>
              <a:t>Sub-100ms API response latency, server-side pagination, and route-level code splitting via React.lazy.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Usability &amp; Design (NFR-03): </a:t>
            </a:r>
            <a:r>
              <a:rPr sz="1400">
                <a:solidFill>
                  <a:srgbClr val="1E293B"/>
                </a:solidFill>
              </a:rPr>
              <a:t>Custom CSS tokens, responsive layout (768px mobile drawer), and clear semantic color badges.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Data Reliability (NFR-04): </a:t>
            </a:r>
            <a:r>
              <a:rPr sz="1400">
                <a:solidFill>
                  <a:srgbClr val="1E293B"/>
                </a:solidFill>
              </a:rPr>
              <a:t>Foreign key cascading/restrict rules, unique indexes, and EF Core code-first migration integrity.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Maintainability (NFR-05): </a:t>
            </a:r>
            <a:r>
              <a:rPr sz="1400">
                <a:solidFill>
                  <a:srgbClr val="1E293B"/>
                </a:solidFill>
              </a:rPr>
              <a:t>Decoupled single-project architecture with strict separation: Controllers -&gt; Services -&gt; DTOs -&gt; DbContext.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Scalability (NFR-06): </a:t>
            </a:r>
            <a:r>
              <a:rPr sz="1400">
                <a:solidFill>
                  <a:srgbClr val="1E293B"/>
                </a:solidFill>
              </a:rPr>
              <a:t>Stateless authentication design allows horizontal backend scaling behind a reverse proxy/load balancer.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Authentication &amp; Session: </a:t>
            </a:r>
            <a:r>
              <a:rPr sz="1400">
                <a:solidFill>
                  <a:srgbClr val="1E293B"/>
                </a:solidFill>
              </a:rPr>
              <a:t>AuthController &amp; AuthService handling registration, login, refresh rotation, and logout.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Project Administration: </a:t>
            </a:r>
            <a:r>
              <a:rPr sz="1400">
                <a:solidFill>
                  <a:srgbClr val="1E293B"/>
                </a:solidFill>
              </a:rPr>
              <a:t>ProjectsController &amp; ProjectService managing keys, details, members, and status.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Task &amp; Workflow Management: </a:t>
            </a:r>
            <a:r>
              <a:rPr sz="1400">
                <a:solidFill>
                  <a:srgbClr val="1E293B"/>
                </a:solidFill>
              </a:rPr>
              <a:t>TasksController &amp; TaskService driving CRUD, Kanban, filters, and state machine validation.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Activity &amp; Audit Trail: </a:t>
            </a:r>
            <a:r>
              <a:rPr sz="1400">
                <a:solidFill>
                  <a:srgbClr val="1E293B"/>
                </a:solidFill>
              </a:rPr>
              <a:t>TaskActivityLog tracking chronological actor actions and property mutations.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Role-Aware Dashboards: </a:t>
            </a:r>
            <a:r>
              <a:rPr sz="1400">
                <a:solidFill>
                  <a:srgbClr val="1E293B"/>
                </a:solidFill>
              </a:rPr>
              <a:t>DashboardController serving Admin KPI aggregations and Developer personal workloads.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GitHub &amp; User Management: </a:t>
            </a:r>
            <a:r>
              <a:rPr sz="1400">
                <a:solidFill>
                  <a:srgbClr val="1E293B"/>
                </a:solidFill>
              </a:rPr>
              <a:t>GitHubController for profile/PR sync, and UsersController for administrative account controls.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SRS - User Characteristics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Administrator Role: </a:t>
            </a:r>
            <a:r>
              <a:rPr sz="1400">
                <a:solidFill>
                  <a:srgbClr val="1E293B"/>
                </a:solidFill>
              </a:rPr>
              <a:t>Project Managers / Team Leads with full organizational authority.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Admin Capabilities: </a:t>
            </a:r>
            <a:r>
              <a:rPr sz="1400">
                <a:solidFill>
                  <a:srgbClr val="1E293B"/>
                </a:solidFill>
              </a:rPr>
              <a:t>Create/archive projects, assign members, inspect organization KPIs, and toggle user active states.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Developer Role: </a:t>
            </a:r>
            <a:r>
              <a:rPr sz="1400">
                <a:solidFill>
                  <a:srgbClr val="1E293B"/>
                </a:solidFill>
              </a:rPr>
              <a:t>Software Engineers and QA contributors executing development tasks.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Developer Capabilities: </a:t>
            </a:r>
            <a:r>
              <a:rPr sz="1400">
                <a:solidFill>
                  <a:srgbClr val="1E293B"/>
                </a:solidFill>
              </a:rPr>
              <a:t>Create tasks in assigned projects, drag tasks across Kanban columns, link PRs, and track deadlines.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Strict Authorization Guards: </a:t>
            </a:r>
            <a:r>
              <a:rPr sz="1400">
                <a:solidFill>
                  <a:srgbClr val="1E293B"/>
                </a:solidFill>
              </a:rPr>
              <a:t>Enforced via ASP.NET Core [Authorize(Roles = 'Admin')] attributes and React RequireRole guards.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Technical Competency: </a:t>
            </a:r>
            <a:r>
              <a:rPr sz="1400">
                <a:solidFill>
                  <a:srgbClr val="1E293B"/>
                </a:solidFill>
              </a:rPr>
              <a:t>Both roles possess standard software engineering literacy and familiarity with agile boards.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217920" cy="1150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371600"/>
            <a:ext cx="3840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4592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Dual Actor Boundary: </a:t>
            </a:r>
            <a:r>
              <a:rPr sz="1400">
                <a:solidFill>
                  <a:srgbClr val="1E293B"/>
                </a:solidFill>
              </a:rPr>
              <a:t>Distinct use-case mappings for Admin and Developer roles.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Shared Operations: </a:t>
            </a:r>
            <a:r>
              <a:rPr sz="1400">
                <a:solidFill>
                  <a:srgbClr val="1E293B"/>
                </a:solidFill>
              </a:rPr>
              <a:t>Both roles authenticate, view tasks, transition Kanban states, and link PRs.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Admin Exclusive: </a:t>
            </a:r>
            <a:r>
              <a:rPr sz="1400">
                <a:solidFill>
                  <a:srgbClr val="1E293B"/>
                </a:solidFill>
              </a:rPr>
              <a:t>Project creation, team member management, user directory, and KPI reports.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Developer Focus: </a:t>
            </a:r>
            <a:r>
              <a:rPr sz="1400">
                <a:solidFill>
                  <a:srgbClr val="1E293B"/>
                </a:solidFill>
              </a:rPr>
              <a:t>Personal workload inspection, overdue task monitoring, and profile linking.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Activity &amp; State Machine Diagrams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activity_tas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37827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Deterministic State Machine: </a:t>
            </a:r>
            <a:r>
              <a:rPr sz="1400">
                <a:solidFill>
                  <a:srgbClr val="1E293B"/>
                </a:solidFill>
              </a:rPr>
              <a:t>Guarantees tasks follow the exact sequence: ToDo -&gt; InProgress -&gt; InReview -&gt; Done.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Guarded Reverse Flows: </a:t>
            </a:r>
            <a:r>
              <a:rPr sz="1400">
                <a:solidFill>
                  <a:srgbClr val="1E293B"/>
                </a:solidFill>
              </a:rPr>
              <a:t>InProgress can revert to ToDo; InReview can return to InProgress for requested changes.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Reopening Constraint: </a:t>
            </a:r>
            <a:r>
              <a:rPr sz="1400">
                <a:solidFill>
                  <a:srgbClr val="1E293B"/>
                </a:solidFill>
              </a:rPr>
              <a:t>Only Admins or the assigned developer can reopen a completed (Done) task.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Session Rotation: </a:t>
            </a:r>
            <a:r>
              <a:rPr sz="1400">
                <a:solidFill>
                  <a:srgbClr val="1E293B"/>
                </a:solidFill>
              </a:rPr>
              <a:t>Background refresh silently rotates tokens with zero user disruption.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Theft Detection: </a:t>
            </a:r>
            <a:r>
              <a:rPr sz="1400">
                <a:solidFill>
                  <a:srgbClr val="1E293B"/>
                </a:solidFill>
              </a:rPr>
              <a:t>Replay of revoked tokens immediately invalidates all active sessions for that account.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Data Dictionary &amp; 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35040" cy="54595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371600"/>
            <a:ext cx="4023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645920"/>
            <a:ext cx="3474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8 Core Entities: </a:t>
            </a:r>
            <a:r>
              <a:rPr sz="1400">
                <a:solidFill>
                  <a:srgbClr val="1E293B"/>
                </a:solidFill>
              </a:rPr>
              <a:t>Users, Projects, ProjectMembers, Tasks, RefreshTokens, GitHubAccounts, TaskPullRequests, TaskActivityLogs.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Referential Integrity: </a:t>
            </a:r>
            <a:r>
              <a:rPr sz="1400">
                <a:solidFill>
                  <a:srgbClr val="1E293B"/>
                </a:solidFill>
              </a:rPr>
              <a:t>Cascade deletes on Tasks &amp; ProjectMembers; Restrict on User relationships to prevent orphaned data.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Check Constraints: </a:t>
            </a:r>
            <a:r>
              <a:rPr sz="1400">
                <a:solidFill>
                  <a:srgbClr val="1E293B"/>
                </a:solidFill>
              </a:rPr>
              <a:t>Enforces valid string enums directly in database (Roles, Statuses, Priorities).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Token Security Table: </a:t>
            </a:r>
            <a:r>
              <a:rPr sz="1400">
                <a:solidFill>
                  <a:srgbClr val="1E293B"/>
                </a:solidFill>
              </a:rPr>
              <a:t>RefreshTokens stores SHA-256 digests and rotation chains (ReplacedByTokenId).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User Interface Design (Screenshots)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08_tasks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669280" cy="35433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37160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Interactive Kanban Board: </a:t>
            </a:r>
            <a:r>
              <a:rPr sz="1400">
                <a:solidFill>
                  <a:srgbClr val="1E293B"/>
                </a:solidFill>
              </a:rPr>
              <a:t>4-column workflow with drag-and-drop status transitions and optimistic UI updates.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Card Visual Meta: </a:t>
            </a:r>
            <a:r>
              <a:rPr sz="1400">
                <a:solidFill>
                  <a:srgbClr val="1E293B"/>
                </a:solidFill>
              </a:rPr>
              <a:t>Shows project key badge, priority pill, category tag, assignee avatar bubble, and due date.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Overdue Highlights: </a:t>
            </a:r>
            <a:r>
              <a:rPr sz="1400">
                <a:solidFill>
                  <a:srgbClr val="1E293B"/>
                </a:solidFill>
              </a:rPr>
              <a:t>Tasks past their due date are automatically flagged with vibrant red tags.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Responsive Multi-View: </a:t>
            </a:r>
            <a:r>
              <a:rPr sz="1400">
                <a:solidFill>
                  <a:srgbClr val="1E293B"/>
                </a:solidFill>
              </a:rPr>
              <a:t>Instant toggle between Kanban board and multi-filtered tabular list view.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Minimalist Modern UI: </a:t>
            </a:r>
            <a:r>
              <a:rPr sz="1400">
                <a:solidFill>
                  <a:srgbClr val="1E293B"/>
                </a:solidFill>
              </a:rPr>
              <a:t>Built with custom CSS variables, 8px radius tokens, and zero heavy UI libraries.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Reports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03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669280" cy="35433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0" y="137160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645920"/>
            <a:ext cx="3840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Executive KPI Summary: </a:t>
            </a:r>
            <a:r>
              <a:rPr sz="1400">
                <a:solidFill>
                  <a:srgbClr val="1E293B"/>
                </a:solidFill>
              </a:rPr>
              <a:t>Aggregates total projects, active projects, total tasks, and overdue issue counts.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Task Distribution Breakdown: </a:t>
            </a:r>
            <a:r>
              <a:rPr sz="1400">
                <a:solidFill>
                  <a:srgbClr val="1E293B"/>
                </a:solidFill>
              </a:rPr>
              <a:t>Visual distribution breakdown across ToDo, InProgress, InReview, and Done statuses.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Live Activity Audit Feed: </a:t>
            </a:r>
            <a:r>
              <a:rPr sz="1400">
                <a:solidFill>
                  <a:srgbClr val="1E293B"/>
                </a:solidFill>
              </a:rPr>
              <a:t>Real-time stream of all user actions with actor name, property diffs, and timestamps.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Developer Workload Report: </a:t>
            </a:r>
            <a:r>
              <a:rPr sz="1400">
                <a:solidFill>
                  <a:srgbClr val="1E293B"/>
                </a:solidFill>
              </a:rPr>
              <a:t>Surfaces assigned tasks, urgent overdue alerts, and 7-day upcoming deadlines.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Project Status Breakdown: </a:t>
            </a:r>
            <a:r>
              <a:rPr sz="1400">
                <a:solidFill>
                  <a:srgbClr val="1E293B"/>
                </a:solidFill>
              </a:rPr>
              <a:t>Reports member counts and task volumes per active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Snapshot of Validations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pic>
        <p:nvPicPr>
          <p:cNvPr id="7" name="Picture 6" descr="21_val_register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029200" cy="31432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029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4805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Multi-Layered Validation: </a:t>
            </a:r>
            <a:r>
              <a:rPr sz="1400">
                <a:solidFill>
                  <a:srgbClr val="1E293B"/>
                </a:solidFill>
              </a:rPr>
              <a:t>Combines real-time client validation with strict ASP.NET Core DataAnnotations.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Authentication Guards: </a:t>
            </a:r>
            <a:r>
              <a:rPr sz="1400">
                <a:solidFill>
                  <a:srgbClr val="1E293B"/>
                </a:solidFill>
              </a:rPr>
              <a:t>Validates RFC email regex and minimum 8-character password constraint.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Project Key Regex: </a:t>
            </a:r>
            <a:r>
              <a:rPr sz="1400">
                <a:solidFill>
                  <a:srgbClr val="1E293B"/>
                </a:solidFill>
              </a:rPr>
              <a:t>Strictly enforces uppercase alphanumeric format (^[A-Z0-9]{2,10}$) on project creation.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Assignee Integrity: </a:t>
            </a:r>
            <a:r>
              <a:rPr sz="1400">
                <a:solidFill>
                  <a:srgbClr val="1E293B"/>
                </a:solidFill>
              </a:rPr>
              <a:t>Server-side check ensures tasks are assigned only to validated project members.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Duplicate Prevention: </a:t>
            </a:r>
            <a:r>
              <a:rPr sz="1400">
                <a:solidFill>
                  <a:srgbClr val="1E293B"/>
                </a:solidFill>
              </a:rPr>
              <a:t>Database unique indexes prevent duplicate emails, project keys, and member associations.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Test Cases &amp; Live Verification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24 Automated Tests Executed: </a:t>
            </a:r>
            <a:r>
              <a:rPr sz="1400">
                <a:solidFill>
                  <a:srgbClr val="1E293B"/>
                </a:solidFill>
              </a:rPr>
              <a:t>100% verified against live running backend API and SQL Server database.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Authentication Suite (5 Tests): </a:t>
            </a:r>
            <a:r>
              <a:rPr sz="1400">
                <a:solidFill>
                  <a:srgbClr val="1E293B"/>
                </a:solidFill>
              </a:rPr>
              <a:t>Verified login, bad credentials (401), registration, duplicate email (400), and token refresh (PASS).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Project Suite (5 Tests): </a:t>
            </a:r>
            <a:r>
              <a:rPr sz="1400">
                <a:solidFill>
                  <a:srgbClr val="1E293B"/>
                </a:solidFill>
              </a:rPr>
              <a:t>Verified pagination, key regex validation, member addition, and duplicate member rejection (PASS).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Task Workflow Suite (5 Tests): </a:t>
            </a:r>
            <a:r>
              <a:rPr sz="1400">
                <a:solidFill>
                  <a:srgbClr val="1E293B"/>
                </a:solidFill>
              </a:rPr>
              <a:t>Verified creation, legal transitions, illegal jump rejection, and non-member assignment block (PASS).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Dashboard &amp; Admin (9 Tests): </a:t>
            </a:r>
            <a:r>
              <a:rPr sz="1400">
                <a:solidFill>
                  <a:srgbClr val="1E293B"/>
                </a:solidFill>
              </a:rPr>
              <a:t>Verified Admin KPIs, Developer workload, RBAC 403 blocks, user toggling, and GitHub sync (PASS).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Overall Test Result: </a:t>
            </a:r>
            <a:r>
              <a:rPr sz="1400">
                <a:solidFill>
                  <a:srgbClr val="1E293B"/>
                </a:solidFill>
              </a:rPr>
              <a:t>24 Tests Passed | 0 Tests Failed | High reliability confirmed across all modules.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Extra-Ordinary Features (Beyond CRUD)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Cryptographic Token Rotation &amp; Theft Detection: </a:t>
            </a:r>
            <a:r>
              <a:rPr sz="1400">
                <a:solidFill>
                  <a:srgbClr val="1E293B"/>
                </a:solidFill>
              </a:rPr>
              <a:t>Rotating refresh tokens with SHA-256 storage and automated invalidation upon token reuse.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Deterministic Task State Machine: </a:t>
            </a:r>
            <a:r>
              <a:rPr sz="1400">
                <a:solidFill>
                  <a:srgbClr val="1E293B"/>
                </a:solidFill>
              </a:rPr>
              <a:t>Rigid 4-stage workflow with business rules preventing out-of-order development progression.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Public GitHub REST API Integration: </a:t>
            </a:r>
            <a:r>
              <a:rPr sz="1400">
                <a:solidFill>
                  <a:srgbClr val="1E293B"/>
                </a:solidFill>
              </a:rPr>
              <a:t>Direct synchronization with GitHub pull requests, fetching live states, draft tags, and commit logs.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Optimistic Drag-and-Drop Kanban: </a:t>
            </a:r>
            <a:r>
              <a:rPr sz="1400">
                <a:solidFill>
                  <a:srgbClr val="1E293B"/>
                </a:solidFill>
              </a:rPr>
              <a:t>Immediate UI responsiveness with native HTML5 drag events backed by asynchronous API persistence.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Granular Property Mutation Auditing: </a:t>
            </a:r>
            <a:r>
              <a:rPr sz="1400">
                <a:solidFill>
                  <a:srgbClr val="1E293B"/>
                </a:solidFill>
              </a:rPr>
              <a:t>Automatic logging of exact before/after diffs on task updates for full compliance traceability.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Role-Segregated Analytical Dashboards: </a:t>
            </a:r>
            <a:r>
              <a:rPr sz="1400">
                <a:solidFill>
                  <a:srgbClr val="1E293B"/>
                </a:solidFill>
              </a:rPr>
              <a:t>Context-aware dashboards tailoring operational insights specifically to user permissions.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DEVTASK HUB</a:t>
            </a:r>
          </a:p>
          <a:p>
            <a:pPr>
              <a:spcBef>
                <a:spcPts val="200"/>
              </a:spcBef>
              <a:defRPr sz="2200" b="1">
                <a:solidFill>
                  <a:srgbClr val="1B365D"/>
                </a:solidFill>
              </a:defRPr>
            </a:pPr>
            <a:r>
              <a:t>Demonstration Script (Step-by-Step Guide)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Babu Madhav Institute of Information Technology | Uka Tarsadia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81425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1: Admin Authentication: </a:t>
            </a:r>
            <a:r>
              <a:rPr sz="1400">
                <a:solidFill>
                  <a:srgbClr val="1E293B"/>
                </a:solidFill>
              </a:rPr>
              <a:t>Navigate to /login, sign in as admin@devtaskhub.com -&gt; Show Admin KPI Dashboard and activity timeline.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2: Project &amp; Team Setup: </a:t>
            </a:r>
            <a:r>
              <a:rPr sz="1400">
                <a:solidFill>
                  <a:srgbClr val="1E293B"/>
                </a:solidFill>
              </a:rPr>
              <a:t>Navigate to /projects -&gt; Click 'Create Project' -&gt; Add key 'PRJ' -&gt; Open details and add team members.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3: Task Creation &amp; Assignment: </a:t>
            </a:r>
            <a:r>
              <a:rPr sz="1400">
                <a:solidFill>
                  <a:srgbClr val="1E293B"/>
                </a:solidFill>
              </a:rPr>
              <a:t>Navigate to /tasks -&gt; Create task 'Implement OAuth' -&gt; Assign to a team developer with High priority.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4: Interactive Kanban Flow: </a:t>
            </a:r>
            <a:r>
              <a:rPr sz="1400">
                <a:solidFill>
                  <a:srgbClr val="1E293B"/>
                </a:solidFill>
              </a:rPr>
              <a:t>Drag task from ToDo to InProgress -&gt; Drag to InReview -&gt; Open details and show automatic activity logs.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5: GitHub PR Synchronization: </a:t>
            </a:r>
            <a:r>
              <a:rPr sz="1400">
                <a:solidFill>
                  <a:srgbClr val="1E293B"/>
                </a:solidFill>
              </a:rPr>
              <a:t>In Task Details, paste public GitHub PR link -&gt; Click 'Sync' -&gt; Display live GitHub status badge and commits.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B365D"/>
                </a:solidFill>
              </a:rPr>
              <a:t>•  Step 6: Developer Experience &amp; RBAC: </a:t>
            </a:r>
            <a:r>
              <a:rPr sz="1400">
                <a:solidFill>
                  <a:srgbClr val="1E293B"/>
                </a:solidFill>
              </a:rPr>
              <a:t>Sign out -&gt; Login as developer -&gt; Show Developer Dashboard (assigned/overdue) -&gt; Try accessing /users -&gt; Show 403 block.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>
                <a:solidFill>
                  <a:srgbClr val="2563EB"/>
                </a:solidFill>
              </a:defRPr>
            </a:pPr>
            <a:r>
              <a:t>Questions &amp; Answers (Q&amp;A)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3C5FD"/>
                </a:solidFill>
              </a:defRPr>
            </a:pPr>
            <a:r>
              <a:t>DevTask Hub – Developer Task &amp; Issue Tracking System</a:t>
            </a:r>
            <a:br/>
            <a:r>
              <a:t>Parmar Nilesh Prakashkumar (Enrollment No: 202206100110113)</a:t>
            </a:r>
            <a:br/>
            <a:r>
              <a:t>Babu Madhav Institute of Information Technology | Uka Tarsadia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